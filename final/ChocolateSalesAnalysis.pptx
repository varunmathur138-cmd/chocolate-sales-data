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Year-over-Year Sales &amp; Profit (₹M)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spPr>
            <a:solidFill>
              <a:srgbClr val="6B3F1F"/>
            </a:solidFill>
            <a:ln w="31750" cap="flat">
              <a:solidFill>
                <a:srgbClr val="6B3F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3F1F"/>
              </a:solidFill>
              <a:ln w="9525" cap="flat">
                <a:solidFill>
                  <a:srgbClr val="6B3F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</c:v>
                </c:pt>
                <c:pt idx="1">
                  <c:v>135</c:v>
                </c:pt>
                <c:pt idx="2">
                  <c:v>138</c:v>
                </c:pt>
                <c:pt idx="3">
                  <c:v>145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rgbClr val="D4A017"/>
            </a:solidFill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</c:v>
                </c:pt>
                <c:pt idx="1">
                  <c:v>58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Monthly Sales Pattern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(₹M)</c:v>
                </c:pt>
              </c:strCache>
            </c:strRef>
          </c:tx>
          <c:spPr>
            <a:solidFill>
              <a:srgbClr val="6B3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3F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3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86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3F1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B3F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6864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B3F1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B3F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6864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</c:v>
                </c:pt>
                <c:pt idx="1">
                  <c:v>58</c:v>
                </c:pt>
                <c:pt idx="2">
                  <c:v>42</c:v>
                </c:pt>
                <c:pt idx="3">
                  <c:v>38</c:v>
                </c:pt>
                <c:pt idx="4">
                  <c:v>40</c:v>
                </c:pt>
                <c:pt idx="5">
                  <c:v>36</c:v>
                </c:pt>
                <c:pt idx="6">
                  <c:v>39</c:v>
                </c:pt>
                <c:pt idx="7">
                  <c:v>44</c:v>
                </c:pt>
                <c:pt idx="8">
                  <c:v>47</c:v>
                </c:pt>
                <c:pt idx="9">
                  <c:v>52</c:v>
                </c:pt>
                <c:pt idx="10">
                  <c:v>61</c:v>
                </c:pt>
                <c:pt idx="11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Sales by Category (₹M)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3F1F"/>
              </a:solidFill>
              <a:effectLst/>
            </c:spPr>
          </c:dPt>
          <c:dPt>
            <c:idx val="1"/>
            <c:bubble3D val="0"/>
            <c:spPr>
              <a:solidFill>
                <a:srgbClr val="C68642"/>
              </a:solidFill>
              <a:effectLst/>
            </c:spPr>
          </c:dPt>
          <c:dPt>
            <c:idx val="2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bubble3D val="0"/>
            <c:spPr>
              <a:solidFill>
                <a:srgbClr val="7B3F00"/>
              </a:solidFill>
              <a:effectLst/>
            </c:spPr>
          </c:dPt>
          <c:dPt>
            <c:idx val="4"/>
            <c:bubble3D val="0"/>
            <c:spPr>
              <a:solidFill>
                <a:srgbClr val="8D6E6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Gift Boxes</c:v>
                </c:pt>
                <c:pt idx="1">
                  <c:v>Bars</c:v>
                </c:pt>
                <c:pt idx="2">
                  <c:v>Truffles</c:v>
                </c:pt>
                <c:pt idx="3">
                  <c:v>Cocoa Products</c:v>
                </c:pt>
                <c:pt idx="4">
                  <c:v>Drinking Choc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476</c:v>
                </c:pt>
                <c:pt idx="1">
                  <c:v>54</c:v>
                </c:pt>
                <c:pt idx="2">
                  <c:v>45</c:v>
                </c:pt>
                <c:pt idx="3">
                  <c:v>39</c:v>
                </c:pt>
                <c:pt idx="4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Top Products by Revenue (₹Cr)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6B3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0A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3F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3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86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1887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New Year H.</c:v>
                  </c:pt>
                  <c:pt idx="1">
                    <c:v>Valentine H.</c:v>
                  </c:pt>
                  <c:pt idx="2">
                    <c:v>Diwali Celeb.</c:v>
                  </c:pt>
                  <c:pt idx="3">
                    <c:v>Festive Gift</c:v>
                  </c:pt>
                  <c:pt idx="4">
                    <c:v>Raksha Band.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14.27</c:v>
                </c:pt>
                <c:pt idx="1">
                  <c:v>9.71</c:v>
                </c:pt>
                <c:pt idx="2">
                  <c:v>9.24</c:v>
                </c:pt>
                <c:pt idx="3">
                  <c:v>8.24</c:v>
                </c:pt>
                <c:pt idx="4">
                  <c:v>3.35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0A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Profit by Sales Channel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rgbClr val="6B3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0A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3F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86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3F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1887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Retail</c:v>
                  </c:pt>
                  <c:pt idx="1">
                    <c:v>Wholesale</c:v>
                  </c:pt>
                  <c:pt idx="2">
                    <c:v>Online</c:v>
                  </c:pt>
                  <c:pt idx="3">
                    <c:v>Modern Trade</c:v>
                  </c:pt>
                  <c:pt idx="4">
                    <c:v>Export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34</c:v>
                </c:pt>
                <c:pt idx="2">
                  <c:v>33</c:v>
                </c:pt>
                <c:pt idx="3">
                  <c:v>22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0A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40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5029200" cy="73152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87952"/>
            <a:ext cx="5029200" cy="7315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74320"/>
            <a:ext cx="3749040" cy="25603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120640" y="274320"/>
            <a:ext cx="3749040" cy="2560320"/>
          </a:xfrm>
          <a:prstGeom prst="rect">
            <a:avLst/>
          </a:prstGeom>
          <a:solidFill>
            <a:srgbClr val="2C1A0E">
              <a:alpha val="7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943600" y="3200400"/>
            <a:ext cx="2286000" cy="2286000"/>
          </a:xfrm>
          <a:prstGeom prst="ellipse">
            <a:avLst/>
          </a:prstGeom>
          <a:solidFill>
            <a:srgbClr val="6B3F1F">
              <a:alpha val="30000"/>
            </a:srgbClr>
          </a:solidFill>
          <a:ln w="19050">
            <a:solidFill>
              <a:srgbClr val="C686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3474720"/>
            <a:ext cx="1371600" cy="1371600"/>
          </a:xfrm>
          <a:prstGeom prst="ellipse">
            <a:avLst/>
          </a:prstGeom>
          <a:solidFill>
            <a:srgbClr val="C68642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74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🍫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65760" y="7772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C68642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777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</a:rPr>
              <a:t>POWER BI PROJECT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65760" y="11430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Chocolate Sales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65760" y="17830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Dashboard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65760" y="2560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060"/>
                </a:solidFill>
              </a:rPr>
              <a:t>Power BI &amp; Business Intelligence Project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2971800"/>
            <a:ext cx="3840480" cy="0"/>
          </a:xfrm>
          <a:prstGeom prst="line">
            <a:avLst/>
          </a:prstGeom>
          <a:noFill/>
          <a:ln w="19050">
            <a:solidFill>
              <a:srgbClr val="C686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108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EE"/>
                </a:solidFill>
              </a:rPr>
              <a:t>Created by  Kashish Mathur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33649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060"/>
                </a:solidFill>
              </a:rPr>
              <a:t>Data Analyst Intern  ·  Decode Data Academy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703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71515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github.com/kashish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828800" y="3703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A66C2"/>
          </a:solidFill>
          <a:ln/>
        </p:spPr>
      </p:sp>
      <p:sp>
        <p:nvSpPr>
          <p:cNvPr id="21" name="Text 18"/>
          <p:cNvSpPr/>
          <p:nvPr/>
        </p:nvSpPr>
        <p:spPr>
          <a:xfrm>
            <a:off x="1828800" y="3703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linkedin.com/in/kashish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0" y="4773168"/>
            <a:ext cx="9144000" cy="320040"/>
          </a:xfrm>
          <a:prstGeom prst="rect">
            <a:avLst/>
          </a:prstGeom>
          <a:solidFill>
            <a:srgbClr val="2C1A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347"/>
                </a:solidFill>
              </a:rPr>
              <a:t>Transforming Chocolate Sales Data into Strategic Business Insights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178308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</a:rPr>
              <a:t>Analyze chocolate sales performance across products, regions &amp; channels to drive data-informed business decisions.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64008" cy="178308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Business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</a:rPr>
              <a:t>Stakeholders lacked visibility into profitability drivers, underperforming SKUs, and regional sales patterns.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52928"/>
            <a:ext cx="64008" cy="1783080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90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990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Dashboard Capabilities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</a:rPr>
              <a:t>Interactive KPI cards, trend charts, category drill-downs, regional maps, and return rate analytics.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52928"/>
            <a:ext cx="64008" cy="17830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90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2990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</a:rPr>
              <a:t>Business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447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010"/>
                </a:solidFill>
              </a:rPr>
              <a:t>Enabled 360° sales visibility, identified top growth opportunities, and supported strategic pricing decisions.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554480"/>
          </a:xfrm>
          <a:prstGeom prst="rect">
            <a:avLst/>
          </a:prstGeom>
          <a:solidFill>
            <a:srgbClr val="6B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Sales Transactions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0DC"/>
                </a:solidFill>
              </a:rPr>
              <a:t>~200K Rows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Core transactional data with order details, quantities, pricing and return flags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43200" cy="1554480"/>
          </a:xfrm>
          <a:prstGeom prst="rect">
            <a:avLst/>
          </a:prstGeom>
          <a:solidFill>
            <a:srgbClr val="C686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960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🍫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Products Dataset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17647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0DC"/>
                </a:solidFill>
              </a:rPr>
              <a:t>~500 SKUs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Product catalog with SKUs, categories, promo codes and cost 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2743200" cy="155448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9601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Warehouses Dataset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17647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F0DC"/>
                </a:solidFill>
              </a:rPr>
              <a:t>~50 Warehouses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Warehouse locations, region mapping and operational metadata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25786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</a:rPr>
              <a:t>KEY COLUMNS &amp; FIELDS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503920" cy="187452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34747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product_sku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Products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Unique product identifier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promo_code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Promotional discount code applied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total_amount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Net sale amount after discounts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Numeric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warehouse_id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Warehouses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Warehouse dispatch location 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return_flag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Indicates if order was returned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</a:rPr>
                        <a:t>Boolean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23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TOOLS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1965960" cy="1783080"/>
          </a:xfrm>
          <a:prstGeom prst="rect">
            <a:avLst/>
          </a:prstGeom>
          <a:solidFill>
            <a:srgbClr val="6B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Interactive dashboard &amp; reporting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868680"/>
            <a:ext cx="1965960" cy="17830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6868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🔢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130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Data Analysis Expressions for KPIs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868680"/>
            <a:ext cx="1965960" cy="1783080"/>
          </a:xfrm>
          <a:prstGeom prst="rect">
            <a:avLst/>
          </a:prstGeom>
          <a:solidFill>
            <a:srgbClr val="C686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6868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0916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130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Data processing &amp; automation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868680"/>
            <a:ext cx="1965960" cy="17830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86868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🐼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58000" y="1737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13055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Data cleaning &amp; transformation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880360"/>
            <a:ext cx="1965960" cy="1783080"/>
          </a:xfrm>
          <a:prstGeom prst="rect">
            <a:avLst/>
          </a:prstGeom>
          <a:solidFill>
            <a:srgbClr val="1E6B3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8036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017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📗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1148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1422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Raw data source &amp; validation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68880" y="2880360"/>
            <a:ext cx="1965960" cy="178308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88036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3017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🧹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56032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41422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Preprocessing &amp; quality checks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2880360"/>
            <a:ext cx="1965960" cy="1783080"/>
          </a:xfrm>
          <a:prstGeom prst="rect">
            <a:avLst/>
          </a:prstGeom>
          <a:solidFill>
            <a:srgbClr val="6B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88036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3017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70916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Viz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09160" y="41422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Visual storytelling &amp; design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66560" y="2880360"/>
            <a:ext cx="1965960" cy="17830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2880360"/>
            <a:ext cx="196596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3017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858000" y="3749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Intel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41422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AF0DC"/>
                </a:solidFill>
              </a:rPr>
              <a:t>Insight extraction &amp; analysis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PREPROCESSING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397764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BEFORE CLEANING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397764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AFTER CLEANING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9776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80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₹1,23,456.00  (with ₹ and commas)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9776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80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123456.0  (clean float)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13990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642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3977640" cy="438912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836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23-05-2023  /  05/23/2023  (mixed)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3977640" cy="438912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88366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2023-05-23  (uniform datetime)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1901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64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" y="2331720"/>
            <a:ext cx="39776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865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NaN, NULL, blank values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39776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38658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Imputed / removed appropriately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24048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642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3977640" cy="438912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895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 = 'W12' (string)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977640" cy="438912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8895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 = 12  (int)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0" y="29077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642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39776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924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return_flag = 'Yes'/'No' (text)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337560"/>
            <a:ext cx="39776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39242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return_flag = 1/0  (binary)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97680" y="341071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642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3977640" cy="438912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95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transaction rows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840480"/>
            <a:ext cx="3977640" cy="438912"/>
          </a:xfrm>
          <a:prstGeom prst="rect">
            <a:avLst/>
          </a:prstGeom>
          <a:solidFill>
            <a:srgbClr val="FFF3E8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895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De-duplicated clean rows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97680" y="3913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8642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0040" y="4370832"/>
            <a:ext cx="8503920" cy="38404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🐍  df['total_amount'] = df['total_amount'].str.replace('[₹,]', '', regex=True).astype(float)   |   df['date'] = pd.to_datetime(df['date'], dayfirst=True)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31520"/>
            <a:ext cx="8686800" cy="3886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" y="46817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060"/>
                </a:solidFill>
              </a:rPr>
              <a:t>📌 KPI Cards — Total Sales, Profit, Margin &amp; Orders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404872" y="46817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060"/>
                </a:solidFill>
              </a:rPr>
              <a:t>📈 Year Trends — Sales trajectory 2021–2024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81144" y="46817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060"/>
                </a:solidFill>
              </a:rPr>
              <a:t>🏆 Channel Rankings — Retail leads profitability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57416" y="46817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060"/>
                </a:solidFill>
              </a:rPr>
              <a:t>🗺️ State Analysis — Maharashtra #1 at ₹109M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KPIs — KEY METRICS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2606040" cy="1783080"/>
          </a:xfrm>
          <a:prstGeom prst="rect">
            <a:avLst/>
          </a:prstGeom>
          <a:solidFill>
            <a:srgbClr val="6B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96112"/>
            <a:ext cx="260604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₹628M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AF0DC"/>
                </a:solidFill>
              </a:rPr>
              <a:t>TOTAL NET SALES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+8.2% YoY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96112"/>
            <a:ext cx="2606040" cy="1783080"/>
          </a:xfrm>
          <a:prstGeom prst="rect">
            <a:avLst/>
          </a:prstGeom>
          <a:solidFill>
            <a:srgbClr val="7B3F0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96112"/>
            <a:ext cx="260604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9875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15179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₹282M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06654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AF0DC"/>
                </a:solidFill>
              </a:rPr>
              <a:t>TOTAL PROFIT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23408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44.9% Margin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896112"/>
            <a:ext cx="2606040" cy="1783080"/>
          </a:xfrm>
          <a:prstGeom prst="rect">
            <a:avLst/>
          </a:prstGeom>
          <a:solidFill>
            <a:srgbClr val="C686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896112"/>
            <a:ext cx="260604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9875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15179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206654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AF0DC"/>
                </a:solidFill>
              </a:rPr>
              <a:t>PROFIT 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23408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Industry Benchmark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07792"/>
            <a:ext cx="2606040" cy="178308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07792"/>
            <a:ext cx="260604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35295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763K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57200" y="40782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AF0DC"/>
                </a:solidFill>
              </a:rPr>
              <a:t>TOTAL QUANTITY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352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Units Sold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907792"/>
            <a:ext cx="2606040" cy="1783080"/>
          </a:xfrm>
          <a:prstGeom prst="rect">
            <a:avLst/>
          </a:prstGeom>
          <a:solidFill>
            <a:srgbClr val="6B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07792"/>
            <a:ext cx="260604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291840" y="35295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₹823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291840" y="40782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AF0DC"/>
                </a:solidFill>
              </a:rPr>
              <a:t>AVG SELL PRICE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4352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Per Unit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907792"/>
            <a:ext cx="2606040" cy="1783080"/>
          </a:xfrm>
          <a:prstGeom prst="rect">
            <a:avLst/>
          </a:prstGeom>
          <a:solidFill>
            <a:srgbClr val="5D403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907792"/>
            <a:ext cx="2606040" cy="6400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126480" y="35295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126480" y="40782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AF0DC"/>
                </a:solidFill>
              </a:rPr>
              <a:t>RETURN RATE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4352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Below Average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TREND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320040" y="82296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486400" y="822960"/>
          <a:ext cx="3337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584448"/>
            <a:ext cx="85039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" y="3584448"/>
            <a:ext cx="64008" cy="1170432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3630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📌 KEY INSIGHTS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391363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• Sales dipped in 2022 but recovered strongly through 2023–24   </a:t>
            </a:r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• Q4 (Oct–Dec) consistently drives peak performance — festive &amp; gifting season   </a:t>
            </a:r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• Seasonal demand peaks align with Diwali, Valentine's &amp; New Year promotions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12" name="Text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CATEGORY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320040" y="822960"/>
          <a:ext cx="3200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657600" y="822960"/>
          <a:ext cx="5166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584448"/>
            <a:ext cx="85039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" y="3584448"/>
            <a:ext cx="64008" cy="1170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3630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📌 KEY INSIGHTS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391363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• Gift Boxes dominate at ₹476M (75%+ of total sales) — premium packaging drives value   </a:t>
            </a:r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• New Year Hampers lead individual SKU revenue at ₹14.27 Cr   </a:t>
            </a:r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• Drinking Chocolate (₹14M) is the lowest performer — potential for reformulation/promotion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12" name="Text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CHANNEL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95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Top States by Net Sales (₹M)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Maharashtra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37360" y="1133856"/>
            <a:ext cx="3840480" cy="219456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8" name="Text 6"/>
          <p:cNvSpPr/>
          <p:nvPr/>
        </p:nvSpPr>
        <p:spPr>
          <a:xfrm>
            <a:off x="562356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₹109M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356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Karnataka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1472184"/>
            <a:ext cx="2112264" cy="219456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1" name="Text 9"/>
          <p:cNvSpPr/>
          <p:nvPr/>
        </p:nvSpPr>
        <p:spPr>
          <a:xfrm>
            <a:off x="3895344" y="14356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₹60M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7739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Delhi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1810512"/>
            <a:ext cx="1805026" cy="219456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14" name="Text 12"/>
          <p:cNvSpPr/>
          <p:nvPr/>
        </p:nvSpPr>
        <p:spPr>
          <a:xfrm>
            <a:off x="3588106" y="177393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₹51M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1122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Gujarat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37360" y="2148840"/>
            <a:ext cx="1689811" cy="21945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3472891" y="21122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₹48M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450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Telangana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37360" y="2487168"/>
            <a:ext cx="1574597" cy="219456"/>
          </a:xfrm>
          <a:prstGeom prst="rect">
            <a:avLst/>
          </a:prstGeom>
          <a:solidFill>
            <a:srgbClr val="A0522D"/>
          </a:solidFill>
          <a:ln/>
        </p:spPr>
      </p:sp>
      <p:sp>
        <p:nvSpPr>
          <p:cNvPr id="20" name="Text 18"/>
          <p:cNvSpPr/>
          <p:nvPr/>
        </p:nvSpPr>
        <p:spPr>
          <a:xfrm>
            <a:off x="3357677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₹45M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788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Tamil Nadu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37360" y="2825496"/>
            <a:ext cx="1382573" cy="219456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3" name="Text 21"/>
          <p:cNvSpPr/>
          <p:nvPr/>
        </p:nvSpPr>
        <p:spPr>
          <a:xfrm>
            <a:off x="3165653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₹39M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1272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West Bengal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737360" y="3163824"/>
            <a:ext cx="1228954" cy="219456"/>
          </a:xfrm>
          <a:prstGeom prst="rect">
            <a:avLst/>
          </a:prstGeom>
          <a:solidFill>
            <a:srgbClr val="6B4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012034" y="31272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₹35M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4655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Uttar Pradesh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37360" y="3502152"/>
            <a:ext cx="998525" cy="219456"/>
          </a:xfrm>
          <a:prstGeom prst="rect">
            <a:avLst/>
          </a:prstGeom>
          <a:solidFill>
            <a:srgbClr val="7A5230"/>
          </a:solidFill>
          <a:ln/>
        </p:spPr>
      </p:sp>
      <p:sp>
        <p:nvSpPr>
          <p:cNvPr id="29" name="Text 27"/>
          <p:cNvSpPr/>
          <p:nvPr/>
        </p:nvSpPr>
        <p:spPr>
          <a:xfrm>
            <a:off x="2781605" y="3465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₹28M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38039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Haryana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737360" y="3840480"/>
            <a:ext cx="806501" cy="21945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2" name="Text 30"/>
          <p:cNvSpPr/>
          <p:nvPr/>
        </p:nvSpPr>
        <p:spPr>
          <a:xfrm>
            <a:off x="2589581" y="38039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₹23M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1422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</a:rPr>
              <a:t>Rajasthan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737360" y="4178808"/>
            <a:ext cx="806501" cy="219456"/>
          </a:xfrm>
          <a:prstGeom prst="rect">
            <a:avLst/>
          </a:prstGeom>
          <a:solidFill>
            <a:srgbClr val="9C7A5A"/>
          </a:solidFill>
          <a:ln/>
        </p:spPr>
      </p:sp>
      <p:sp>
        <p:nvSpPr>
          <p:cNvPr id="35" name="Text 33"/>
          <p:cNvSpPr/>
          <p:nvPr/>
        </p:nvSpPr>
        <p:spPr>
          <a:xfrm>
            <a:off x="2589581" y="41422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₹23M</a:t>
            </a:r>
            <a:endParaRPr lang="en-US" sz="9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5029200" y="795528"/>
          <a:ext cx="3794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20040" y="4114800"/>
            <a:ext cx="64008" cy="64008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39" name="Text 36"/>
          <p:cNvSpPr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010"/>
                </a:solidFill>
              </a:rPr>
              <a:t>📌  Maharashtra leads at ₹109M (2.4x next state)  •  Retail channel most profitable at ₹45M  •  Export channel is highest growth opportunity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41" name="Text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1188720"/>
          </a:xfrm>
          <a:prstGeom prst="rect">
            <a:avLst/>
          </a:prstGeom>
          <a:solidFill>
            <a:srgbClr val="4A2C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118872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4114800" cy="64008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784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960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060"/>
                </a:solidFill>
              </a:rPr>
              <a:t>🎯  Focus on High-Margin Products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0DC"/>
                </a:solidFill>
              </a:rPr>
              <a:t>Gift Boxes carry premium margins. Increase marketing investment in holiday bundles and premium packaging to maximize profitability per unit.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114800" cy="1188720"/>
          </a:xfrm>
          <a:prstGeom prst="rect">
            <a:avLst/>
          </a:prstGeom>
          <a:solidFill>
            <a:srgbClr val="4A2C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94560"/>
            <a:ext cx="64008" cy="11887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194560"/>
            <a:ext cx="4114800" cy="64008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3042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286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060"/>
                </a:solidFill>
              </a:rPr>
              <a:t>📉  Optimize Underperforming SKUs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0DC"/>
                </a:solidFill>
              </a:rPr>
              <a:t>Drinking Chocolate (₹14M) underperforms significantly. Conduct pricing analysis and targeted promotions or consider SKU rationalization.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114800" cy="1188720"/>
          </a:xfrm>
          <a:prstGeom prst="rect">
            <a:avLst/>
          </a:prstGeom>
          <a:solidFill>
            <a:srgbClr val="4A2C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20440"/>
            <a:ext cx="64008" cy="1188720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520440"/>
            <a:ext cx="4114800" cy="64008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301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6118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060"/>
                </a:solidFill>
              </a:rPr>
              <a:t>🏷️  Promotion Strategy Balance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0DC"/>
                </a:solidFill>
              </a:rPr>
              <a:t>Promo codes drive volume but compress margins. Shift from blanket discounts to loyalty-based or time-limited offers on high-velocity products.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1188720"/>
          </a:xfrm>
          <a:prstGeom prst="rect">
            <a:avLst/>
          </a:prstGeom>
          <a:solidFill>
            <a:srgbClr val="4A2C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868680"/>
            <a:ext cx="64008" cy="1188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868680"/>
            <a:ext cx="411480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97840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960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060"/>
                </a:solidFill>
              </a:rPr>
              <a:t>🏭  Warehouse Operational Excellence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13258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0DC"/>
                </a:solidFill>
              </a:rPr>
              <a:t>Top-performing warehouses in Maharashtra show superior order fulfillment rates. Replicate their operational models across underperforming regions.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194560"/>
            <a:ext cx="4114800" cy="1188720"/>
          </a:xfrm>
          <a:prstGeom prst="rect">
            <a:avLst/>
          </a:prstGeom>
          <a:solidFill>
            <a:srgbClr val="4A2C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194560"/>
            <a:ext cx="64008" cy="118872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2194560"/>
            <a:ext cx="4114800" cy="64008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3042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2286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060"/>
                </a:solidFill>
              </a:rPr>
              <a:t>🗺️  Regional Expansion Strategy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26517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0DC"/>
                </a:solidFill>
              </a:rPr>
              <a:t>South &amp; East India markets (Haryana, Rajasthan) show low penetration at ₹23M. Targeted regional campaigns can unlock significant growth.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520440"/>
            <a:ext cx="4114800" cy="1188720"/>
          </a:xfrm>
          <a:prstGeom prst="rect">
            <a:avLst/>
          </a:prstGeom>
          <a:solidFill>
            <a:srgbClr val="4A2C1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520440"/>
            <a:ext cx="64008" cy="11887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3520440"/>
            <a:ext cx="4114800" cy="64008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6301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36118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060"/>
                </a:solidFill>
              </a:rPr>
              <a:t>📅  Seasonal Demand Planning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39776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0DC"/>
                </a:solidFill>
              </a:rPr>
              <a:t>Q4 drives ~35% of annual revenue. Pre-build inventory and launch campaigns 4–6 weeks before Diwali, Christmas, and Valentine's seasons.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DEMONSTRATED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841248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23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🧹  Data Cleaning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252728"/>
            <a:ext cx="2057400" cy="128016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2161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90%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Python, Pandas, handling nulls, type conversion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64008" cy="841248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923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📊  Dashboard Dev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252728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252728"/>
            <a:ext cx="2171700" cy="128016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2161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00"/>
                </a:solidFill>
              </a:rPr>
              <a:t>95%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Power BI, interactive visuals, slicers &amp; filters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1856232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56232"/>
            <a:ext cx="64008" cy="841248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911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🔢  DAX Formulas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240280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240280"/>
            <a:ext cx="1943100" cy="128016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20370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8642"/>
                </a:solidFill>
              </a:rPr>
              <a:t>85%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2404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Calculated columns, measures, time intelligence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856232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856232"/>
            <a:ext cx="64008" cy="8412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911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💼  Business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240280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240280"/>
            <a:ext cx="2011680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220370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88%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2404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KPI design, insight extraction, stakeholder focus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843784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43784"/>
            <a:ext cx="64008" cy="841248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📖  Data Storytelling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227832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" y="3227832"/>
            <a:ext cx="2103120" cy="128016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38" name="Text 36"/>
          <p:cNvSpPr/>
          <p:nvPr/>
        </p:nvSpPr>
        <p:spPr>
          <a:xfrm>
            <a:off x="2834640" y="319125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3F1F"/>
                </a:solidFill>
              </a:rPr>
              <a:t>92%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392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Narrative structure, executive-level presentation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843784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843784"/>
            <a:ext cx="64008" cy="841248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🎨  Visualization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37760" y="3227832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44" name="Shape 42"/>
          <p:cNvSpPr/>
          <p:nvPr/>
        </p:nvSpPr>
        <p:spPr>
          <a:xfrm>
            <a:off x="4937760" y="3227832"/>
            <a:ext cx="2057400" cy="128016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45" name="Text 43"/>
          <p:cNvSpPr/>
          <p:nvPr/>
        </p:nvSpPr>
        <p:spPr>
          <a:xfrm>
            <a:off x="7269480" y="319125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00"/>
                </a:solidFill>
              </a:rPr>
              <a:t>90%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37760" y="3392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Chart selection, color theory, UX principles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3831336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3831336"/>
            <a:ext cx="64008" cy="841248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🔍  Problem Solving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" y="4215384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51" name="Shape 49"/>
          <p:cNvSpPr/>
          <p:nvPr/>
        </p:nvSpPr>
        <p:spPr>
          <a:xfrm>
            <a:off x="502920" y="4215384"/>
            <a:ext cx="1988820" cy="128016"/>
          </a:xfrm>
          <a:prstGeom prst="rect">
            <a:avLst/>
          </a:prstGeom>
          <a:solidFill>
            <a:srgbClr val="C68642"/>
          </a:solidFill>
          <a:ln/>
        </p:spPr>
      </p:sp>
      <p:sp>
        <p:nvSpPr>
          <p:cNvPr id="52" name="Text 50"/>
          <p:cNvSpPr/>
          <p:nvPr/>
        </p:nvSpPr>
        <p:spPr>
          <a:xfrm>
            <a:off x="2834640" y="4178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8642"/>
                </a:solidFill>
              </a:rPr>
              <a:t>87%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4379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Breaking complex data problems into actionable insights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3831336"/>
            <a:ext cx="4114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831336"/>
            <a:ext cx="64008" cy="8412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E"/>
                </a:solidFill>
              </a:rPr>
              <a:t>🤝  Communication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937760" y="4215384"/>
            <a:ext cx="2286000" cy="128016"/>
          </a:xfrm>
          <a:prstGeom prst="rect">
            <a:avLst/>
          </a:prstGeom>
          <a:solidFill>
            <a:srgbClr val="E8D5C4"/>
          </a:solidFill>
          <a:ln/>
        </p:spPr>
      </p:sp>
      <p:sp>
        <p:nvSpPr>
          <p:cNvPr id="58" name="Shape 56"/>
          <p:cNvSpPr/>
          <p:nvPr/>
        </p:nvSpPr>
        <p:spPr>
          <a:xfrm>
            <a:off x="4937760" y="4215384"/>
            <a:ext cx="2125980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9" name="Text 57"/>
          <p:cNvSpPr/>
          <p:nvPr/>
        </p:nvSpPr>
        <p:spPr>
          <a:xfrm>
            <a:off x="7269480" y="4178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93%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937760" y="43799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347"/>
                </a:solidFill>
              </a:rPr>
              <a:t>Translating technical findings to business language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62" name="Text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6347"/>
                </a:solidFill>
              </a:rPr>
              <a:t>Chocolate Sales Analysis Dashboard  ·  Kashish Mathur  ·  Decode Data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6B3F1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6B3F1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1371600" cy="1371600"/>
          </a:xfrm>
          <a:prstGeom prst="ellipse">
            <a:avLst/>
          </a:prstGeom>
          <a:solidFill>
            <a:srgbClr val="C6864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C686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3977640" cy="22402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182880" y="274320"/>
            <a:ext cx="3977640" cy="2240280"/>
          </a:xfrm>
          <a:prstGeom prst="rect">
            <a:avLst/>
          </a:prstGeom>
          <a:solidFill>
            <a:srgbClr val="2C1A0E">
              <a:alpha val="5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2606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060"/>
                </a:solidFill>
              </a:rPr>
              <a:t>Project Summary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" y="292608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0DC"/>
                </a:solidFill>
              </a:rPr>
              <a:t>✓ 200K+ transactions analyzed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F0DC"/>
                </a:solidFill>
              </a:rPr>
              <a:t>✓ 6 interactive KPI metrics tracked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F0DC"/>
                </a:solidFill>
              </a:rPr>
              <a:t>✓ 10 state-level insights extracted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F0DC"/>
                </a:solidFill>
              </a:rPr>
              <a:t>✓ 5 channel performance segmented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F0DC"/>
                </a:solidFill>
              </a:rPr>
              <a:t>✓ Strategic recommendations delivered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63440" y="5486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663440" y="117043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You!</a:t>
            </a:r>
            <a:endParaRPr lang="en-US" sz="4800" dirty="0"/>
          </a:p>
        </p:txBody>
      </p:sp>
      <p:sp>
        <p:nvSpPr>
          <p:cNvPr id="13" name="Shape 10"/>
          <p:cNvSpPr/>
          <p:nvPr/>
        </p:nvSpPr>
        <p:spPr>
          <a:xfrm>
            <a:off x="4846320" y="1965960"/>
            <a:ext cx="3840480" cy="0"/>
          </a:xfrm>
          <a:prstGeom prst="line">
            <a:avLst/>
          </a:prstGeom>
          <a:noFill/>
          <a:ln w="19050">
            <a:solidFill>
              <a:srgbClr val="C686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2103120"/>
            <a:ext cx="3749040" cy="347472"/>
          </a:xfrm>
          <a:prstGeom prst="roundRect">
            <a:avLst>
              <a:gd name="adj" fmla="val 21053"/>
            </a:avLst>
          </a:prstGeom>
          <a:solidFill>
            <a:srgbClr val="C68642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E"/>
                </a:solidFill>
              </a:rPr>
              <a:t>🚀  Open to Data Analyst Opportunities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63440" y="26060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Kashish Mathur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6344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060"/>
                </a:solidFill>
              </a:rPr>
              <a:t>Data Analyst Intern  |  Decode Data Academy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3429000"/>
            <a:ext cx="3749040" cy="32004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E"/>
                </a:solidFill>
              </a:rPr>
              <a:t>📧  kashish@email.com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3813048"/>
            <a:ext cx="3749040" cy="32004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3813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E"/>
                </a:solidFill>
              </a:rPr>
              <a:t>💼  linkedin.com/in/kashish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4197096"/>
            <a:ext cx="3749040" cy="320040"/>
          </a:xfrm>
          <a:prstGeom prst="rect">
            <a:avLst/>
          </a:prstGeom>
          <a:solidFill>
            <a:srgbClr val="6B3F1F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41970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E"/>
                </a:solidFill>
              </a:rPr>
              <a:t>🐙  github.com/kashish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2C17"/>
          </a:solidFill>
          <a:ln/>
        </p:spPr>
      </p:sp>
      <p:sp>
        <p:nvSpPr>
          <p:cNvPr id="25" name="Text 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C060"/>
                </a:solidFill>
              </a:rPr>
              <a:t>"Turning data into decisions, one dashboard at a time" 🍫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Chocolate Sales Analysis Dashboard</dc:title>
  <dc:subject>PptxGenJS Presentation</dc:subject>
  <dc:creator>Kashish Mathur</dc:creator>
  <cp:lastModifiedBy>Kashish Mathur</cp:lastModifiedBy>
  <cp:revision>1</cp:revision>
  <dcterms:created xsi:type="dcterms:W3CDTF">2026-05-08T10:16:20Z</dcterms:created>
  <dcterms:modified xsi:type="dcterms:W3CDTF">2026-05-08T10:16:20Z</dcterms:modified>
</cp:coreProperties>
</file>